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111827"/>
                </a:solidFill>
              </a:rPr>
              <a:t>ArenaPilot 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097280"/>
            <a:ext cx="10515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475569"/>
                </a:solidFill>
              </a:rPr>
              <a:t>Sports Academy Management SaaS | Multi-tenant | Production-ready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645920"/>
            <a:ext cx="1051560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2057400"/>
            <a:ext cx="987552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111827"/>
                </a:solidFill>
              </a:defRPr>
            </a:pPr>
            <a:r>
              <a:t>One platform to run admissions, classes, attendance, billing, notifications, and access control.</a:t>
            </a:r>
          </a:p>
          <a:p>
            <a:pPr>
              <a:spcAft>
                <a:spcPts val="1000"/>
              </a:spcAft>
              <a:defRPr sz="2200">
                <a:solidFill>
                  <a:srgbClr val="111827"/>
                </a:solidFill>
              </a:defRPr>
            </a:pPr>
            <a:r>
              <a:t>Built for 100+ academies and 10k+ students with strict tenant isolation.</a:t>
            </a:r>
          </a:p>
          <a:p>
            <a:pPr>
              <a:spcAft>
                <a:spcPts val="1000"/>
              </a:spcAft>
              <a:defRPr sz="2200">
                <a:solidFill>
                  <a:srgbClr val="111827"/>
                </a:solidFill>
              </a:defRPr>
            </a:pPr>
            <a:r>
              <a:t>Designed for founders, academy admins, coaches, and staff with role-based workflows.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111827"/>
                </a:solidFill>
              </a:rPr>
              <a:t>Problem &amp; Opportunity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97280"/>
            <a:ext cx="10515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475569"/>
                </a:solidFill>
              </a:rPr>
              <a:t>Why this platform is needed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5394960" cy="48920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1828800"/>
            <a:ext cx="47548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4F46E5"/>
                </a:solidFill>
              </a:rPr>
              <a:t>Current Gaps in Academies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240280"/>
            <a:ext cx="47548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111827"/>
                </a:solidFill>
              </a:defRPr>
            </a:pPr>
            <a:r>
              <a:t>Student and fee records are spread across sheets and chats.</a:t>
            </a:r>
          </a:p>
          <a:p>
            <a:pPr>
              <a:spcAft>
                <a:spcPts val="1000"/>
              </a:spcAft>
              <a:defRPr sz="1600">
                <a:solidFill>
                  <a:srgbClr val="111827"/>
                </a:solidFill>
              </a:defRPr>
            </a:pPr>
            <a:r>
              <a:t>Attendance and class schedules are manually managed.</a:t>
            </a:r>
          </a:p>
          <a:p>
            <a:pPr>
              <a:spcAft>
                <a:spcPts val="1000"/>
              </a:spcAft>
              <a:defRPr sz="1600">
                <a:solidFill>
                  <a:srgbClr val="111827"/>
                </a:solidFill>
              </a:defRPr>
            </a:pPr>
            <a:r>
              <a:t>No real-time visibility on renewals, receivables, or operations.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37959" y="1554480"/>
            <a:ext cx="5394960" cy="48920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7999" y="1828800"/>
            <a:ext cx="47548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4F46E5"/>
                </a:solidFill>
              </a:rPr>
              <a:t>What ArenaPilot OS Solves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7999" y="2240280"/>
            <a:ext cx="47548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111827"/>
                </a:solidFill>
              </a:defRPr>
            </a:pPr>
            <a:r>
              <a:t>Unified system for admissions, attendance, fees, and communications.</a:t>
            </a:r>
          </a:p>
          <a:p>
            <a:pPr>
              <a:spcAft>
                <a:spcPts val="1000"/>
              </a:spcAft>
              <a:defRPr sz="1600">
                <a:solidFill>
                  <a:srgbClr val="111827"/>
                </a:solidFill>
              </a:defRPr>
            </a:pPr>
            <a:r>
              <a:t>Role-wise workflows for Admin, Coach, and Staff.</a:t>
            </a:r>
          </a:p>
          <a:p>
            <a:pPr>
              <a:spcAft>
                <a:spcPts val="1000"/>
              </a:spcAft>
              <a:defRPr sz="1600">
                <a:solidFill>
                  <a:srgbClr val="111827"/>
                </a:solidFill>
              </a:defRPr>
            </a:pPr>
            <a:r>
              <a:t>Executive-level Pulse Board for decision making.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111827"/>
                </a:solidFill>
              </a:rPr>
              <a:t>Platform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97280"/>
            <a:ext cx="10515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475569"/>
                </a:solidFill>
              </a:rPr>
              <a:t>Module-level understanding for all stakeholders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5394960" cy="48920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1828800"/>
            <a:ext cx="47548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4F46E5"/>
                </a:solidFill>
              </a:rPr>
              <a:t>Core Academy Modules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240280"/>
            <a:ext cx="47548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111827"/>
                </a:solidFill>
              </a:defRPr>
            </a:pPr>
            <a:r>
              <a:t>Student Registry and profile management</a:t>
            </a:r>
          </a:p>
          <a:p>
            <a:pPr>
              <a:spcAft>
                <a:spcPts val="1000"/>
              </a:spcAft>
              <a:defRPr sz="1600">
                <a:solidFill>
                  <a:srgbClr val="111827"/>
                </a:solidFill>
              </a:defRPr>
            </a:pPr>
            <a:r>
              <a:t>Class Registry, Schedule, and Attendance tracking</a:t>
            </a:r>
          </a:p>
          <a:p>
            <a:pPr>
              <a:spcAft>
                <a:spcPts val="1000"/>
              </a:spcAft>
              <a:defRPr sz="1600">
                <a:solidFill>
                  <a:srgbClr val="111827"/>
                </a:solidFill>
              </a:defRPr>
            </a:pPr>
            <a:r>
              <a:t>Plans, Fees, Payments, Renewals, and reminders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37959" y="1554480"/>
            <a:ext cx="5394960" cy="48920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7999" y="1828800"/>
            <a:ext cx="47548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4F46E5"/>
                </a:solidFill>
              </a:rPr>
              <a:t>Governance Modules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7999" y="2240280"/>
            <a:ext cx="47548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111827"/>
                </a:solidFill>
              </a:defRPr>
            </a:pPr>
            <a:r>
              <a:t>Access Control with role-based actions</a:t>
            </a:r>
          </a:p>
          <a:p>
            <a:pPr>
              <a:spcAft>
                <a:spcPts val="1000"/>
              </a:spcAft>
              <a:defRPr sz="1600">
                <a:solidFill>
                  <a:srgbClr val="111827"/>
                </a:solidFill>
              </a:defRPr>
            </a:pPr>
            <a:r>
              <a:t>Platform Control for SuperAdmin</a:t>
            </a:r>
          </a:p>
          <a:p>
            <a:pPr>
              <a:spcAft>
                <a:spcPts val="1000"/>
              </a:spcAft>
              <a:defRPr sz="1600">
                <a:solidFill>
                  <a:srgbClr val="111827"/>
                </a:solidFill>
              </a:defRPr>
            </a:pPr>
            <a:r>
              <a:t>Audit-friendly logs and tenant-safe operations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111827"/>
                </a:solidFill>
              </a:rPr>
              <a:t>Multi-Tenant Security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97280"/>
            <a:ext cx="10515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475569"/>
                </a:solidFill>
              </a:rPr>
              <a:t>How data isolation works and why it matters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5394960" cy="48920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1828800"/>
            <a:ext cx="47548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4F46E5"/>
                </a:solidFill>
              </a:rPr>
              <a:t>Isolation Model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240280"/>
            <a:ext cx="47548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111827"/>
                </a:solidFill>
              </a:defRPr>
            </a:pPr>
            <a:r>
              <a:t>Shared MongoDB with strict tenantId filtering everywhere</a:t>
            </a:r>
          </a:p>
          <a:p>
            <a:pPr>
              <a:spcAft>
                <a:spcPts val="1000"/>
              </a:spcAft>
              <a:defRPr sz="1600">
                <a:solidFill>
                  <a:srgbClr val="111827"/>
                </a:solidFill>
              </a:defRPr>
            </a:pPr>
            <a:r>
              <a:t>Tenant context propagated through middleware and repository layer</a:t>
            </a:r>
          </a:p>
          <a:p>
            <a:pPr>
              <a:spcAft>
                <a:spcPts val="1000"/>
              </a:spcAft>
              <a:defRPr sz="1600">
                <a:solidFill>
                  <a:srgbClr val="111827"/>
                </a:solidFill>
              </a:defRPr>
            </a:pPr>
            <a:r>
              <a:t>Cross-tenant access blocked by design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37959" y="1554480"/>
            <a:ext cx="5394960" cy="48920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7999" y="1828800"/>
            <a:ext cx="47548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4F46E5"/>
                </a:solidFill>
              </a:rPr>
              <a:t>Business Benefit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7999" y="2240280"/>
            <a:ext cx="47548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111827"/>
                </a:solidFill>
              </a:defRPr>
            </a:pPr>
            <a:r>
              <a:t>Secure SaaS scale across many academies</a:t>
            </a:r>
          </a:p>
          <a:p>
            <a:pPr>
              <a:spcAft>
                <a:spcPts val="1000"/>
              </a:spcAft>
              <a:defRPr sz="1600">
                <a:solidFill>
                  <a:srgbClr val="111827"/>
                </a:solidFill>
              </a:defRPr>
            </a:pPr>
            <a:r>
              <a:t>Lower infra cost vs per-tenant DB strategy</a:t>
            </a:r>
          </a:p>
          <a:p>
            <a:pPr>
              <a:spcAft>
                <a:spcPts val="1000"/>
              </a:spcAft>
              <a:defRPr sz="1600">
                <a:solidFill>
                  <a:srgbClr val="111827"/>
                </a:solidFill>
              </a:defRPr>
            </a:pPr>
            <a:r>
              <a:t>Compliance-ready traceability with tenant-aware logs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111827"/>
                </a:solidFill>
              </a:rPr>
              <a:t>Pulse Board (Executive View)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97280"/>
            <a:ext cx="10515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475569"/>
                </a:solidFill>
              </a:rPr>
              <a:t>Instant academy health and risk visibility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5394960" cy="48920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1828800"/>
            <a:ext cx="47548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4F46E5"/>
                </a:solidFill>
              </a:rPr>
              <a:t>What It Shows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240280"/>
            <a:ext cx="47548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111827"/>
                </a:solidFill>
              </a:defRPr>
            </a:pPr>
            <a:r>
              <a:t>Active students, scheduled classes, attendance rate</a:t>
            </a:r>
          </a:p>
          <a:p>
            <a:pPr>
              <a:spcAft>
                <a:spcPts val="1000"/>
              </a:spcAft>
              <a:defRPr sz="1600">
                <a:solidFill>
                  <a:srgbClr val="111827"/>
                </a:solidFill>
              </a:defRPr>
            </a:pPr>
            <a:r>
              <a:t>Pending fee count, active batches, fee collection pulse</a:t>
            </a:r>
          </a:p>
          <a:p>
            <a:pPr>
              <a:spcAft>
                <a:spcPts val="1000"/>
              </a:spcAft>
              <a:defRPr sz="1600">
                <a:solidFill>
                  <a:srgbClr val="111827"/>
                </a:solidFill>
              </a:defRPr>
            </a:pPr>
            <a:r>
              <a:t>Attention panel: overdue fees, failed notifications, capacity alerts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37959" y="1554480"/>
            <a:ext cx="5394960" cy="48920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7999" y="1828800"/>
            <a:ext cx="47548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4F46E5"/>
                </a:solidFill>
              </a:rPr>
              <a:t>Why It Matters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7999" y="2240280"/>
            <a:ext cx="47548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111827"/>
                </a:solidFill>
              </a:defRPr>
            </a:pPr>
            <a:r>
              <a:t>Owner gets daily operational health in one glance</a:t>
            </a:r>
          </a:p>
          <a:p>
            <a:pPr>
              <a:spcAft>
                <a:spcPts val="1000"/>
              </a:spcAft>
              <a:defRPr sz="1600">
                <a:solidFill>
                  <a:srgbClr val="111827"/>
                </a:solidFill>
              </a:defRPr>
            </a:pPr>
            <a:r>
              <a:t>Faster decisions on fee recovery and class planning</a:t>
            </a:r>
          </a:p>
          <a:p>
            <a:pPr>
              <a:spcAft>
                <a:spcPts val="1000"/>
              </a:spcAft>
              <a:defRPr sz="1600">
                <a:solidFill>
                  <a:srgbClr val="111827"/>
                </a:solidFill>
              </a:defRPr>
            </a:pPr>
            <a:r>
              <a:t>Proactive handling of risk before it becomes revenue loss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111827"/>
                </a:solidFill>
              </a:rPr>
              <a:t>Student Registry Use Cases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97280"/>
            <a:ext cx="10515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475569"/>
                </a:solidFill>
              </a:rPr>
              <a:t>From onboarding to retention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5394960" cy="48920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1828800"/>
            <a:ext cx="47548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4F46E5"/>
                </a:solidFill>
              </a:rPr>
              <a:t>Key Actions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240280"/>
            <a:ext cx="47548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111827"/>
                </a:solidFill>
              </a:defRPr>
            </a:pPr>
            <a:r>
              <a:t>Add/Edit/Delete student with role controls</a:t>
            </a:r>
          </a:p>
          <a:p>
            <a:pPr>
              <a:spcAft>
                <a:spcPts val="1000"/>
              </a:spcAft>
              <a:defRPr sz="1600">
                <a:solidFill>
                  <a:srgbClr val="111827"/>
                </a:solidFill>
              </a:defRPr>
            </a:pPr>
            <a:r>
              <a:t>Import/Export student data for bulk operations</a:t>
            </a:r>
          </a:p>
          <a:p>
            <a:pPr>
              <a:spcAft>
                <a:spcPts val="1000"/>
              </a:spcAft>
              <a:defRPr sz="1600">
                <a:solidFill>
                  <a:srgbClr val="111827"/>
                </a:solidFill>
              </a:defRPr>
            </a:pPr>
            <a:r>
              <a:t>Capture profile, subscription, invoice, and class mapping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37959" y="1554480"/>
            <a:ext cx="5394960" cy="48920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7999" y="1828800"/>
            <a:ext cx="47548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4F46E5"/>
                </a:solidFill>
              </a:rPr>
              <a:t>Benefits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7999" y="2240280"/>
            <a:ext cx="47548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111827"/>
                </a:solidFill>
              </a:defRPr>
            </a:pPr>
            <a:r>
              <a:t>Clean student master data for academy operations</a:t>
            </a:r>
          </a:p>
          <a:p>
            <a:pPr>
              <a:spcAft>
                <a:spcPts val="1000"/>
              </a:spcAft>
              <a:defRPr sz="1600">
                <a:solidFill>
                  <a:srgbClr val="111827"/>
                </a:solidFill>
              </a:defRPr>
            </a:pPr>
            <a:r>
              <a:t>Reduces duplicate records and manual follow-up effort</a:t>
            </a:r>
          </a:p>
          <a:p>
            <a:pPr>
              <a:spcAft>
                <a:spcPts val="1000"/>
              </a:spcAft>
              <a:defRPr sz="1600">
                <a:solidFill>
                  <a:srgbClr val="111827"/>
                </a:solidFill>
              </a:defRPr>
            </a:pPr>
            <a:r>
              <a:t>Improves parent communication and reporting accuracy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111827"/>
                </a:solidFill>
              </a:rPr>
              <a:t>Classes, Schedule, Attendance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97280"/>
            <a:ext cx="10515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475569"/>
                </a:solidFill>
              </a:rPr>
              <a:t>Operational backbone for coaches and staff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5394960" cy="48920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1828800"/>
            <a:ext cx="47548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4F46E5"/>
                </a:solidFill>
              </a:rPr>
              <a:t>Capabilities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240280"/>
            <a:ext cx="47548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111827"/>
                </a:solidFill>
              </a:defRPr>
            </a:pPr>
            <a:r>
              <a:t>Create classes with timing, days, capacity, and coach assignment</a:t>
            </a:r>
          </a:p>
          <a:p>
            <a:pPr>
              <a:spcAft>
                <a:spcPts val="1000"/>
              </a:spcAft>
              <a:defRPr sz="1600">
                <a:solidFill>
                  <a:srgbClr val="111827"/>
                </a:solidFill>
              </a:defRPr>
            </a:pPr>
            <a:r>
              <a:t>Mark attendance by class/date with present/absent controls</a:t>
            </a:r>
          </a:p>
          <a:p>
            <a:pPr>
              <a:spcAft>
                <a:spcPts val="1000"/>
              </a:spcAft>
              <a:defRPr sz="1600">
                <a:solidFill>
                  <a:srgbClr val="111827"/>
                </a:solidFill>
              </a:defRPr>
            </a:pPr>
            <a:r>
              <a:t>Track scheduled classes vs marked attendance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37959" y="1554480"/>
            <a:ext cx="5394960" cy="48920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7999" y="1828800"/>
            <a:ext cx="47548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4F46E5"/>
                </a:solidFill>
              </a:rPr>
              <a:t>Benefits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7999" y="2240280"/>
            <a:ext cx="47548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111827"/>
                </a:solidFill>
              </a:defRPr>
            </a:pPr>
            <a:r>
              <a:t>Better class utilization and coaching discipline</a:t>
            </a:r>
          </a:p>
          <a:p>
            <a:pPr>
              <a:spcAft>
                <a:spcPts val="1000"/>
              </a:spcAft>
              <a:defRPr sz="1600">
                <a:solidFill>
                  <a:srgbClr val="111827"/>
                </a:solidFill>
              </a:defRPr>
            </a:pPr>
            <a:r>
              <a:t>Real-time attendance visibility for management</a:t>
            </a:r>
          </a:p>
          <a:p>
            <a:pPr>
              <a:spcAft>
                <a:spcPts val="1000"/>
              </a:spcAft>
              <a:defRPr sz="1600">
                <a:solidFill>
                  <a:srgbClr val="111827"/>
                </a:solidFill>
              </a:defRPr>
            </a:pPr>
            <a:r>
              <a:t>Supports performance and retention analysis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111827"/>
                </a:solidFill>
              </a:rPr>
              <a:t>Fees, Plans, Renewals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97280"/>
            <a:ext cx="10515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475569"/>
                </a:solidFill>
              </a:rPr>
              <a:t>Revenue operations and cashflow visibility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5394960" cy="48920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1828800"/>
            <a:ext cx="47548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4F46E5"/>
                </a:solidFill>
              </a:rPr>
              <a:t>What Works Today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240280"/>
            <a:ext cx="47548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111827"/>
                </a:solidFill>
              </a:defRPr>
            </a:pPr>
            <a:r>
              <a:t>Create fee plans with amount and duration</a:t>
            </a:r>
          </a:p>
          <a:p>
            <a:pPr>
              <a:spcAft>
                <a:spcPts val="1000"/>
              </a:spcAft>
              <a:defRPr sz="1600">
                <a:solidFill>
                  <a:srgbClr val="111827"/>
                </a:solidFill>
              </a:defRPr>
            </a:pPr>
            <a:r>
              <a:t>Assign/update subscriptions per student</a:t>
            </a:r>
          </a:p>
          <a:p>
            <a:pPr>
              <a:spcAft>
                <a:spcPts val="1000"/>
              </a:spcAft>
              <a:defRPr sz="1600">
                <a:solidFill>
                  <a:srgbClr val="111827"/>
                </a:solidFill>
              </a:defRPr>
            </a:pPr>
            <a:r>
              <a:t>Renewal desk with due-window filters (1/2/3/5/10/20 days)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37959" y="1554480"/>
            <a:ext cx="5394960" cy="48920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7999" y="1828800"/>
            <a:ext cx="47548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4F46E5"/>
                </a:solidFill>
              </a:rPr>
              <a:t>Business Impact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7999" y="2240280"/>
            <a:ext cx="47548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111827"/>
                </a:solidFill>
              </a:defRPr>
            </a:pPr>
            <a:r>
              <a:t>Higher collection efficiency with due visibility</a:t>
            </a:r>
          </a:p>
          <a:p>
            <a:pPr>
              <a:spcAft>
                <a:spcPts val="1000"/>
              </a:spcAft>
              <a:defRPr sz="1600">
                <a:solidFill>
                  <a:srgbClr val="111827"/>
                </a:solidFill>
              </a:defRPr>
            </a:pPr>
            <a:r>
              <a:t>Less missed renewals and reduced payment leakage</a:t>
            </a:r>
          </a:p>
          <a:p>
            <a:pPr>
              <a:spcAft>
                <a:spcPts val="1000"/>
              </a:spcAft>
              <a:defRPr sz="1600">
                <a:solidFill>
                  <a:srgbClr val="111827"/>
                </a:solidFill>
              </a:defRPr>
            </a:pPr>
            <a:r>
              <a:t>Predictable monthly revenue planning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111827"/>
                </a:solidFill>
              </a:rPr>
              <a:t>Access Control (RBAC)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97280"/>
            <a:ext cx="10515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475569"/>
                </a:solidFill>
              </a:rPr>
              <a:t>Right access for the right role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5394960" cy="48920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1828800"/>
            <a:ext cx="47548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4F46E5"/>
                </a:solidFill>
              </a:rPr>
              <a:t>Role Model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240280"/>
            <a:ext cx="47548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111827"/>
                </a:solidFill>
              </a:defRPr>
            </a:pPr>
            <a:r>
              <a:t>SuperAdmin: platform-wide control and governance</a:t>
            </a:r>
          </a:p>
          <a:p>
            <a:pPr>
              <a:spcAft>
                <a:spcPts val="1000"/>
              </a:spcAft>
              <a:defRPr sz="1600">
                <a:solidFill>
                  <a:srgbClr val="111827"/>
                </a:solidFill>
              </a:defRPr>
            </a:pPr>
            <a:r>
              <a:t>Admin: full control inside own academy tenant</a:t>
            </a:r>
          </a:p>
          <a:p>
            <a:pPr>
              <a:spcAft>
                <a:spcPts val="1000"/>
              </a:spcAft>
              <a:defRPr sz="1600">
                <a:solidFill>
                  <a:srgbClr val="111827"/>
                </a:solidFill>
              </a:defRPr>
            </a:pPr>
            <a:r>
              <a:t>Staff/Coach: add/edit actions with restricted delete rights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37959" y="1554480"/>
            <a:ext cx="5394960" cy="48920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7999" y="1828800"/>
            <a:ext cx="47548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4F46E5"/>
                </a:solidFill>
              </a:rPr>
              <a:t>Why This Feature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7999" y="2240280"/>
            <a:ext cx="47548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111827"/>
                </a:solidFill>
              </a:defRPr>
            </a:pPr>
            <a:r>
              <a:t>Prevents accidental or unauthorized critical actions</a:t>
            </a:r>
          </a:p>
          <a:p>
            <a:pPr>
              <a:spcAft>
                <a:spcPts val="1000"/>
              </a:spcAft>
              <a:defRPr sz="1600">
                <a:solidFill>
                  <a:srgbClr val="111827"/>
                </a:solidFill>
              </a:defRPr>
            </a:pPr>
            <a:r>
              <a:t>Clear accountability for each operational role</a:t>
            </a:r>
          </a:p>
          <a:p>
            <a:pPr>
              <a:spcAft>
                <a:spcPts val="1000"/>
              </a:spcAft>
              <a:defRPr sz="1600">
                <a:solidFill>
                  <a:srgbClr val="111827"/>
                </a:solidFill>
              </a:defRPr>
            </a:pPr>
            <a:r>
              <a:t>Supports safer delegation as team scales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111827"/>
                </a:solidFill>
              </a:rPr>
              <a:t>SuperAdmin Platform Control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97280"/>
            <a:ext cx="10515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475569"/>
                </a:solidFill>
              </a:rPr>
              <a:t>SaaS governance at scale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5394960" cy="48920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1828800"/>
            <a:ext cx="47548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4F46E5"/>
                </a:solidFill>
              </a:rPr>
              <a:t>Control Tower Features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240280"/>
            <a:ext cx="47548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111827"/>
                </a:solidFill>
              </a:defRPr>
            </a:pPr>
            <a:r>
              <a:t>Tenants view and status controls</a:t>
            </a:r>
          </a:p>
          <a:p>
            <a:pPr>
              <a:spcAft>
                <a:spcPts val="1000"/>
              </a:spcAft>
              <a:defRPr sz="1600">
                <a:solidFill>
                  <a:srgbClr val="111827"/>
                </a:solidFill>
              </a:defRPr>
            </a:pPr>
            <a:r>
              <a:t>Plans &amp; Pricing management, overrides, billing view</a:t>
            </a:r>
          </a:p>
          <a:p>
            <a:pPr>
              <a:spcAft>
                <a:spcPts val="1000"/>
              </a:spcAft>
              <a:defRPr sz="1600">
                <a:solidFill>
                  <a:srgbClr val="111827"/>
                </a:solidFill>
              </a:defRPr>
            </a:pPr>
            <a:r>
              <a:t>Integrations and platform-level configuration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37959" y="1554480"/>
            <a:ext cx="5394960" cy="48920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7999" y="1828800"/>
            <a:ext cx="47548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4F46E5"/>
                </a:solidFill>
              </a:rPr>
              <a:t>SaaS Benefit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7999" y="2240280"/>
            <a:ext cx="47548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111827"/>
                </a:solidFill>
              </a:defRPr>
            </a:pPr>
            <a:r>
              <a:t>Enables scalable multi-tenant operations</a:t>
            </a:r>
          </a:p>
          <a:p>
            <a:pPr>
              <a:spcAft>
                <a:spcPts val="1000"/>
              </a:spcAft>
              <a:defRPr sz="1600">
                <a:solidFill>
                  <a:srgbClr val="111827"/>
                </a:solidFill>
              </a:defRPr>
            </a:pPr>
            <a:r>
              <a:t>Centralized policy and monetization control</a:t>
            </a:r>
          </a:p>
          <a:p>
            <a:pPr>
              <a:spcAft>
                <a:spcPts val="1000"/>
              </a:spcAft>
              <a:defRPr sz="1600">
                <a:solidFill>
                  <a:srgbClr val="111827"/>
                </a:solidFill>
              </a:defRPr>
            </a:pPr>
            <a:r>
              <a:t>Faster issue handling across all academies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111827"/>
                </a:solidFill>
              </a:rPr>
              <a:t>Automation &amp; Notifications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97280"/>
            <a:ext cx="10515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475569"/>
                </a:solidFill>
              </a:rPr>
              <a:t>Communication that drives retention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5394960" cy="48920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1828800"/>
            <a:ext cx="47548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4F46E5"/>
                </a:solidFill>
              </a:rPr>
              <a:t>Current Scope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240280"/>
            <a:ext cx="47548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111827"/>
                </a:solidFill>
              </a:defRPr>
            </a:pPr>
            <a:r>
              <a:t>Reminder and notification log visibility</a:t>
            </a:r>
          </a:p>
          <a:p>
            <a:pPr>
              <a:spcAft>
                <a:spcPts val="1000"/>
              </a:spcAft>
              <a:defRPr sz="1600">
                <a:solidFill>
                  <a:srgbClr val="111827"/>
                </a:solidFill>
              </a:defRPr>
            </a:pPr>
            <a:r>
              <a:t>Queue-based delivery architecture (BullMQ ready)</a:t>
            </a:r>
          </a:p>
          <a:p>
            <a:pPr>
              <a:spcAft>
                <a:spcPts val="1000"/>
              </a:spcAft>
              <a:defRPr sz="1600">
                <a:solidFill>
                  <a:srgbClr val="111827"/>
                </a:solidFill>
              </a:defRPr>
            </a:pPr>
            <a:r>
              <a:t>Failure visibility for operational follow-up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37959" y="1554480"/>
            <a:ext cx="5394960" cy="48920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7999" y="1828800"/>
            <a:ext cx="47548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4F46E5"/>
                </a:solidFill>
              </a:rPr>
              <a:t>Why Important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7999" y="2240280"/>
            <a:ext cx="47548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111827"/>
                </a:solidFill>
              </a:defRPr>
            </a:pPr>
            <a:r>
              <a:t>Improves fee reminders and attendance follow-up</a:t>
            </a:r>
          </a:p>
          <a:p>
            <a:pPr>
              <a:spcAft>
                <a:spcPts val="1000"/>
              </a:spcAft>
              <a:defRPr sz="1600">
                <a:solidFill>
                  <a:srgbClr val="111827"/>
                </a:solidFill>
              </a:defRPr>
            </a:pPr>
            <a:r>
              <a:t>Reduces manual calling effort</a:t>
            </a:r>
          </a:p>
          <a:p>
            <a:pPr>
              <a:spcAft>
                <a:spcPts val="1000"/>
              </a:spcAft>
              <a:defRPr sz="1600">
                <a:solidFill>
                  <a:srgbClr val="111827"/>
                </a:solidFill>
              </a:defRPr>
            </a:pPr>
            <a:r>
              <a:t>Supports better parent and student engagement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111827"/>
                </a:solidFill>
              </a:rPr>
              <a:t>Security &amp; Reliability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97280"/>
            <a:ext cx="10515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475569"/>
                </a:solidFill>
              </a:rPr>
              <a:t>Production-readiness controls built in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5394960" cy="48920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1828800"/>
            <a:ext cx="47548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4F46E5"/>
                </a:solidFill>
              </a:rPr>
              <a:t>Security Controls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240280"/>
            <a:ext cx="47548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111827"/>
                </a:solidFill>
              </a:defRPr>
            </a:pPr>
            <a:r>
              <a:t>JWT auth, helmet, strict CORS, role authorization</a:t>
            </a:r>
          </a:p>
          <a:p>
            <a:pPr>
              <a:spcAft>
                <a:spcPts val="1000"/>
              </a:spcAft>
              <a:defRPr sz="1600">
                <a:solidFill>
                  <a:srgbClr val="111827"/>
                </a:solidFill>
              </a:defRPr>
            </a:pPr>
            <a:r>
              <a:t>Tenant access guards and query-level tenant filters</a:t>
            </a:r>
          </a:p>
          <a:p>
            <a:pPr>
              <a:spcAft>
                <a:spcPts val="1000"/>
              </a:spcAft>
              <a:defRPr sz="1600">
                <a:solidFill>
                  <a:srgbClr val="111827"/>
                </a:solidFill>
              </a:defRPr>
            </a:pPr>
            <a:r>
              <a:t>Input validation and central error handling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37959" y="1554480"/>
            <a:ext cx="5394960" cy="48920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7999" y="1828800"/>
            <a:ext cx="47548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4F46E5"/>
                </a:solidFill>
              </a:rPr>
              <a:t>Reliability Controls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7999" y="2240280"/>
            <a:ext cx="47548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111827"/>
                </a:solidFill>
              </a:defRPr>
            </a:pPr>
            <a:r>
              <a:t>Health checks for DB/Redis/service</a:t>
            </a:r>
          </a:p>
          <a:p>
            <a:pPr>
              <a:spcAft>
                <a:spcPts val="1000"/>
              </a:spcAft>
              <a:defRPr sz="1600">
                <a:solidFill>
                  <a:srgbClr val="111827"/>
                </a:solidFill>
              </a:defRPr>
            </a:pPr>
            <a:r>
              <a:t>Structured logging and request traceability</a:t>
            </a:r>
          </a:p>
          <a:p>
            <a:pPr>
              <a:spcAft>
                <a:spcPts val="1000"/>
              </a:spcAft>
              <a:defRPr sz="1600">
                <a:solidFill>
                  <a:srgbClr val="111827"/>
                </a:solidFill>
              </a:defRPr>
            </a:pPr>
            <a:r>
              <a:t>Docker-first deployment and environment isolation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111827"/>
                </a:solidFill>
              </a:rPr>
              <a:t>KPIs You Can Track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97280"/>
            <a:ext cx="10515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475569"/>
                </a:solidFill>
              </a:rPr>
              <a:t>How leadership measures success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5394960" cy="48920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1828800"/>
            <a:ext cx="47548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4F46E5"/>
                </a:solidFill>
              </a:rPr>
              <a:t>Operational KPIs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240280"/>
            <a:ext cx="47548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111827"/>
                </a:solidFill>
              </a:defRPr>
            </a:pPr>
            <a:r>
              <a:t>Attendance rate, class fill rate, absent streak risk</a:t>
            </a:r>
          </a:p>
          <a:p>
            <a:pPr>
              <a:spcAft>
                <a:spcPts val="1000"/>
              </a:spcAft>
              <a:defRPr sz="1600">
                <a:solidFill>
                  <a:srgbClr val="111827"/>
                </a:solidFill>
              </a:defRPr>
            </a:pPr>
            <a:r>
              <a:t>Scheduled vs marked attendance</a:t>
            </a:r>
          </a:p>
          <a:p>
            <a:pPr>
              <a:spcAft>
                <a:spcPts val="1000"/>
              </a:spcAft>
              <a:defRPr sz="1600">
                <a:solidFill>
                  <a:srgbClr val="111827"/>
                </a:solidFill>
              </a:defRPr>
            </a:pPr>
            <a:r>
              <a:t>New student growth and coach utilization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37959" y="1554480"/>
            <a:ext cx="5394960" cy="48920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7999" y="1828800"/>
            <a:ext cx="47548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4F46E5"/>
                </a:solidFill>
              </a:rPr>
              <a:t>Revenue KPIs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7999" y="2240280"/>
            <a:ext cx="47548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111827"/>
                </a:solidFill>
              </a:defRPr>
            </a:pPr>
            <a:r>
              <a:t>Collection ratio and pending fee counts</a:t>
            </a:r>
          </a:p>
          <a:p>
            <a:pPr>
              <a:spcAft>
                <a:spcPts val="1000"/>
              </a:spcAft>
              <a:defRPr sz="1600">
                <a:solidFill>
                  <a:srgbClr val="111827"/>
                </a:solidFill>
              </a:defRPr>
            </a:pPr>
            <a:r>
              <a:t>Upcoming renewals and collection gap</a:t>
            </a:r>
          </a:p>
          <a:p>
            <a:pPr>
              <a:spcAft>
                <a:spcPts val="1000"/>
              </a:spcAft>
              <a:defRPr sz="1600">
                <a:solidFill>
                  <a:srgbClr val="111827"/>
                </a:solidFill>
              </a:defRPr>
            </a:pPr>
            <a:r>
              <a:t>Plan-wise revenue and billing health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111827"/>
                </a:solidFill>
              </a:rPr>
              <a:t>Adoption Roadmap (Suggested)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97280"/>
            <a:ext cx="10515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475569"/>
                </a:solidFill>
              </a:rPr>
              <a:t>How an academy can roll out ArenaPilot OS in 4 weeks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011680"/>
            <a:ext cx="2560320" cy="265176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240280"/>
            <a:ext cx="2194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800">
                <a:solidFill>
                  <a:srgbClr val="4F46E5"/>
                </a:solidFill>
              </a:defRPr>
            </a:pPr>
            <a:r>
              <a:t>Week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743200"/>
            <a:ext cx="21945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111827"/>
                </a:solidFill>
              </a:defRPr>
            </a:pPr>
            <a:r>
              <a:t>Onboarding &amp; Access Setup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0" y="2011680"/>
            <a:ext cx="2560320" cy="265176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840480" y="2240280"/>
            <a:ext cx="2194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800">
                <a:solidFill>
                  <a:srgbClr val="4F46E5"/>
                </a:solidFill>
              </a:defRPr>
            </a:pPr>
            <a:r>
              <a:t>Week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743200"/>
            <a:ext cx="21945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111827"/>
                </a:solidFill>
              </a:defRPr>
            </a:pPr>
            <a:r>
              <a:t>Students, Classes, Attendance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92240" y="2011680"/>
            <a:ext cx="2560320" cy="265176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75120" y="2240280"/>
            <a:ext cx="2194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800">
                <a:solidFill>
                  <a:srgbClr val="4F46E5"/>
                </a:solidFill>
              </a:defRPr>
            </a:pPr>
            <a:r>
              <a:t>Week 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0" y="2743200"/>
            <a:ext cx="21945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111827"/>
                </a:solidFill>
              </a:defRPr>
            </a:pPr>
            <a:r>
              <a:t>Fees, Renewals, Notifications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326880" y="2011680"/>
            <a:ext cx="2560320" cy="265176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509760" y="2240280"/>
            <a:ext cx="2194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800">
                <a:solidFill>
                  <a:srgbClr val="4F46E5"/>
                </a:solidFill>
              </a:defRPr>
            </a:pPr>
            <a:r>
              <a:t>Week 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509759" y="2743200"/>
            <a:ext cx="21945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111827"/>
                </a:solidFill>
              </a:defRPr>
            </a:pPr>
            <a:r>
              <a:t>Reports, Automation, Admin Governance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507492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11827"/>
                </a:solidFill>
              </a:defRPr>
            </a:pPr>
            <a:r>
              <a:t>Result: faster onboarding, fewer manual errors, higher fee recovery, and full visibility for every academy.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111827"/>
                </a:solidFill>
              </a:rPr>
              <a:t>Why ArenaPilot OS Wins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97280"/>
            <a:ext cx="10515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475569"/>
                </a:solidFill>
              </a:rPr>
              <a:t>A complete, secure, and scalable operating system for sports academies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783080"/>
            <a:ext cx="107899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400">
                <a:solidFill>
                  <a:srgbClr val="111827"/>
                </a:solidFill>
              </a:defRPr>
            </a:pPr>
            <a:r>
              <a:t>Single source of truth for students, classes, attendance, finance, and renewals.</a:t>
            </a:r>
          </a:p>
          <a:p>
            <a:pPr>
              <a:spcAft>
                <a:spcPts val="1000"/>
              </a:spcAft>
              <a:defRPr sz="2400">
                <a:solidFill>
                  <a:srgbClr val="111827"/>
                </a:solidFill>
              </a:defRPr>
            </a:pPr>
            <a:r>
              <a:t>Role-based workflows improve accountability and reduce operational leakage.</a:t>
            </a:r>
          </a:p>
          <a:p>
            <a:pPr>
              <a:spcAft>
                <a:spcPts val="1000"/>
              </a:spcAft>
              <a:defRPr sz="2400">
                <a:solidFill>
                  <a:srgbClr val="111827"/>
                </a:solidFill>
              </a:defRPr>
            </a:pPr>
            <a:r>
              <a:t>Tenant-safe architecture enables SaaS scale without cross-academy data risk.</a:t>
            </a:r>
          </a:p>
          <a:p>
            <a:pPr>
              <a:spcAft>
                <a:spcPts val="1000"/>
              </a:spcAft>
              <a:defRPr sz="2400">
                <a:solidFill>
                  <a:srgbClr val="111827"/>
                </a:solidFill>
              </a:defRPr>
            </a:pPr>
            <a:r>
              <a:t>Actionable dashboards convert data into faster daily decisions.</a:t>
            </a:r>
          </a:p>
          <a:p>
            <a:pPr>
              <a:spcAft>
                <a:spcPts val="1000"/>
              </a:spcAft>
              <a:defRPr sz="2400">
                <a:solidFill>
                  <a:srgbClr val="111827"/>
                </a:solidFill>
              </a:defRPr>
            </a:pPr>
            <a:r>
              <a:t>Built-in automation improves retention and fee collection efficiency.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5760720"/>
            <a:ext cx="10515600" cy="731520"/>
          </a:xfrm>
          <a:prstGeom prst="round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FFFFFF"/>
                </a:solidFill>
              </a:rPr>
              <a:t>Next step: Pilot with 1 academy for 14 days, then scale tenant-by-tenant.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